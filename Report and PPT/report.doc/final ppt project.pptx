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68" r:id="rId2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>
                <a:latin typeface="Times New Roman"/>
              </a:rPr>
              <a:t>FitTrack AI – Privacy Preserving Multi Camera Keypoint Fusion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/>
            <a:r>
              <a:rPr>
                <a:latin typeface="Times New Roman"/>
              </a:rPr>
              <a:t>Harsh Raj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>
                <a:latin typeface="Times New Roman"/>
              </a:rPr>
              <a:t>2210991623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>
                <a:latin typeface="Times New Roman"/>
              </a:rPr>
              <a:t>Dr. Gurpreet Singh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Presentation Agenda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Introduction and Background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Problem Definition</a:t>
            </a:r>
          </a:p>
          <a:p>
            <a:r>
              <a:rPr sz="1600">
                <a:latin typeface="Times New Roman"/>
              </a:rPr>
              <a:t>• Proposed Solution and Objectives</a:t>
            </a:r>
          </a:p>
          <a:p>
            <a:r>
              <a:rPr sz="1600">
                <a:latin typeface="Times New Roman"/>
              </a:rPr>
              <a:t>• System Requirements</a:t>
            </a:r>
          </a:p>
          <a:p>
            <a:r>
              <a:rPr sz="1600">
                <a:latin typeface="Times New Roman"/>
              </a:rPr>
              <a:t>• Literature Review</a:t>
            </a:r>
          </a:p>
          <a:p>
            <a:r>
              <a:rPr sz="1600">
                <a:latin typeface="Times New Roman"/>
              </a:rPr>
              <a:t>• Methodology &amp; Problem Solving</a:t>
            </a:r>
          </a:p>
          <a:p>
            <a:r>
              <a:rPr sz="1600">
                <a:latin typeface="Times New Roman"/>
              </a:rPr>
              <a:t>• System Design</a:t>
            </a:r>
          </a:p>
          <a:p>
            <a:r>
              <a:rPr sz="1600">
                <a:latin typeface="Times New Roman"/>
              </a:rPr>
              <a:t>• Implementation Details</a:t>
            </a:r>
          </a:p>
          <a:p>
            <a:r>
              <a:rPr sz="1600">
                <a:latin typeface="Times New Roman"/>
              </a:rPr>
              <a:t>• Major Findings and Results</a:t>
            </a:r>
          </a:p>
          <a:p>
            <a:r>
              <a:rPr sz="1600">
                <a:latin typeface="Times New Roman"/>
              </a:rPr>
              <a:t>• Conclusion and Future Scope</a:t>
            </a:r>
          </a:p>
          <a:p>
            <a:br/>
            <a:r>
              <a:rPr sz="1500">
                <a:latin typeface="Times New Roman"/>
              </a:rPr>
              <a:t>• Students and home users require affordable solutions.</a:t>
            </a:r>
            <a:br/>
            <a:r>
              <a:rPr sz="1500">
                <a:latin typeface="Times New Roman"/>
              </a:rPr>
              <a:t>• Privacy-first design increases user trust.</a:t>
            </a:r>
          </a:p>
        </p:txBody>
      </p:sp>
      <p:pic>
        <p:nvPicPr>
          <p:cNvPr id="112" name="Picture 111" descr="bottom_diagram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781935"/>
            <a:ext cx="3798512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The intersection of healthcare, physical fitness, and AI is growing rapidly.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Standard 2D webcams can now track human movement via marker-less pose estimation.</a:t>
            </a:r>
          </a:p>
          <a:p>
            <a:r>
              <a:rPr sz="1600">
                <a:latin typeface="Times New Roman"/>
              </a:rPr>
              <a:t>• Replicating compound routines at home without a trainer often leads to injury.</a:t>
            </a:r>
          </a:p>
          <a:p>
            <a:r>
              <a:rPr sz="1600">
                <a:latin typeface="Times New Roman"/>
              </a:rPr>
              <a:t>• Cloud-based fitness apps introduce severe vulnerabilities regarding personal data privacy.</a:t>
            </a:r>
          </a:p>
          <a:p>
            <a:br/>
            <a:r>
              <a:rPr sz="1500">
                <a:latin typeface="Times New Roman"/>
              </a:rPr>
              <a:t>• Traditional systems store sensitive video data online.</a:t>
            </a:r>
            <a:br/>
            <a:r>
              <a:rPr sz="1500">
                <a:latin typeface="Times New Roman"/>
              </a:rPr>
              <a:t>• FitTrack AI eliminates cloud dependency risks.</a:t>
            </a:r>
          </a:p>
        </p:txBody>
      </p:sp>
      <p:pic>
        <p:nvPicPr>
          <p:cNvPr id="112" name="Picture 111" descr="bottom_diagram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40480"/>
            <a:ext cx="73152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Background &amp; Motivation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FitTrack AI was motivated by the high prevalence of home-based injuries during heavy lifts.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Personal trainers are prohibitively expensive for students.</a:t>
            </a:r>
          </a:p>
          <a:p>
            <a:r>
              <a:rPr sz="1600">
                <a:latin typeface="Times New Roman"/>
              </a:rPr>
              <a:t>• There is a critical demand for automated, cost-effective biomechanical analysis that does not compromise user privacy.</a:t>
            </a:r>
          </a:p>
          <a:p>
            <a:br/>
            <a:r>
              <a:rPr sz="1500">
                <a:latin typeface="Times New Roman"/>
              </a:rPr>
              <a:t>• Lighting conditions should not affect posture accuracy.</a:t>
            </a:r>
            <a:br/>
            <a:r>
              <a:rPr sz="1500">
                <a:latin typeface="Times New Roman"/>
              </a:rPr>
              <a:t>• Deterministic geometry ensures reliable results.</a:t>
            </a:r>
          </a:p>
        </p:txBody>
      </p:sp>
      <p:pic>
        <p:nvPicPr>
          <p:cNvPr id="112" name="Picture 111" descr="bottom_diagram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40480"/>
            <a:ext cx="73152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Problem Definition: Privacy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Cloud Dependency Risks: Contemporary AI fitness utilities are overwhelmingly cloud-dependent.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Transmitting video feeds from private residential spaces to third-party servers exposes users to:</a:t>
            </a:r>
          </a:p>
          <a:p>
            <a:r>
              <a:rPr sz="1600">
                <a:latin typeface="Times New Roman"/>
              </a:rPr>
              <a:t>  - Severe risks of data breaches.</a:t>
            </a:r>
          </a:p>
          <a:p>
            <a:r>
              <a:rPr sz="1600">
                <a:latin typeface="Times New Roman"/>
              </a:rPr>
              <a:t>  - Unauthorized corporate data brokering.</a:t>
            </a:r>
          </a:p>
          <a:p>
            <a:r>
              <a:rPr sz="1600">
                <a:latin typeface="Times New Roman"/>
              </a:rPr>
              <a:t>  - Potential biometric surveillance.</a:t>
            </a:r>
          </a:p>
          <a:p>
            <a:br/>
            <a:r>
              <a:rPr sz="1500">
                <a:latin typeface="Times New Roman"/>
              </a:rPr>
              <a:t>• Fully edge-computed architecture improves speed.</a:t>
            </a:r>
            <a:br/>
            <a:r>
              <a:rPr sz="1500">
                <a:latin typeface="Times New Roman"/>
              </a:rPr>
              <a:t>• Zero-trust approach guarantees local privacy.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Problem Definition: Accuracy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Detection Confidence ≠ Safety: Standard open-source scripts evaluate performance based on 'Detection Confidence'.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This metric strictly measures lighting and clarity, not biomechanical safety.</a:t>
            </a:r>
          </a:p>
          <a:p>
            <a:r>
              <a:rPr sz="1600">
                <a:latin typeface="Times New Roman"/>
              </a:rPr>
              <a:t>• Approving a dangerous squat merely because the room is well-lit is harmful to the user.</a:t>
            </a:r>
          </a:p>
          <a:p>
            <a:br/>
            <a:r>
              <a:rPr sz="1500">
                <a:latin typeface="Times New Roman"/>
              </a:rPr>
              <a:t>• User-friendly interface designed for non-technical users.</a:t>
            </a:r>
            <a:br/>
            <a:r>
              <a:rPr sz="1500">
                <a:latin typeface="Times New Roman"/>
              </a:rPr>
              <a:t>• Real-time feedback increases training safety.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Proposed Solution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25644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FitTrack AI is a fully localized, edge-computed software solution.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Offline-first architecture with no external network calls during inference.</a:t>
            </a:r>
          </a:p>
          <a:p>
            <a:r>
              <a:rPr sz="1600">
                <a:latin typeface="Times New Roman"/>
              </a:rPr>
              <a:t>• Provides structural privacy guarantees.</a:t>
            </a:r>
          </a:p>
          <a:p>
            <a:r>
              <a:rPr sz="1600">
                <a:latin typeface="Times New Roman"/>
              </a:rPr>
              <a:t>• Uses deterministic mathematics to evaluate posture accurately.</a:t>
            </a:r>
          </a:p>
          <a:p>
            <a:br/>
            <a:r>
              <a:rPr sz="1500">
                <a:latin typeface="Times New Roman"/>
              </a:rPr>
              <a:t>• Efficient CPU-based processing reduces hardware costs.</a:t>
            </a:r>
            <a:br/>
            <a:r>
              <a:rPr sz="1500">
                <a:latin typeface="Times New Roman"/>
              </a:rPr>
              <a:t>• Optimized for standard consumer devices.</a:t>
            </a:r>
          </a:p>
        </p:txBody>
      </p:sp>
      <p:pic>
        <p:nvPicPr>
          <p:cNvPr id="111" name="Picture 110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059" y="3593988"/>
            <a:ext cx="6106602" cy="21542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Key Project 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Extract only numerical landmarks and purge image matrices instantly.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Use deterministic trigonometric algorithms for joint angle analysis.</a:t>
            </a:r>
          </a:p>
          <a:p>
            <a:r>
              <a:rPr sz="1600">
                <a:latin typeface="Times New Roman"/>
              </a:rPr>
              <a:t>• Build an accessible Streamlit-based UI for real-time feedback.</a:t>
            </a:r>
          </a:p>
          <a:p>
            <a:br/>
            <a:r>
              <a:rPr sz="1500">
                <a:latin typeface="Times New Roman"/>
              </a:rPr>
              <a:t>• Comparative analysis performed on modern pose systems.</a:t>
            </a:r>
            <a:br/>
            <a:r>
              <a:rPr sz="1500">
                <a:latin typeface="Times New Roman"/>
              </a:rPr>
              <a:t>• Lightweight MediaPipe selected after evaluation.</a:t>
            </a:r>
          </a:p>
        </p:txBody>
      </p:sp>
      <p:pic>
        <p:nvPicPr>
          <p:cNvPr id="111" name="Picture 110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317" y="3713258"/>
            <a:ext cx="5414313" cy="18685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System Requirements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Intel Core i5 recommended with 8GB RAM.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Uses Python 3.9+, Streamlit, MediaPipe, OpenCV, NumPy.</a:t>
            </a:r>
          </a:p>
          <a:p>
            <a:r>
              <a:rPr sz="1600">
                <a:latin typeface="Times New Roman"/>
              </a:rPr>
              <a:t>• Supports 720p/1080p webcam input.</a:t>
            </a:r>
          </a:p>
          <a:p>
            <a:r>
              <a:rPr sz="1600">
                <a:latin typeface="Times New Roman"/>
              </a:rPr>
              <a:t>• Lightweight CPU-based execution.</a:t>
            </a:r>
          </a:p>
          <a:p>
            <a:br/>
            <a:r>
              <a:rPr sz="1500">
                <a:latin typeface="Times New Roman"/>
              </a:rPr>
              <a:t>• Mathematical calculations improve posture validation.</a:t>
            </a:r>
            <a:br/>
            <a:r>
              <a:rPr sz="1500">
                <a:latin typeface="Times New Roman"/>
              </a:rPr>
              <a:t>• Modular design supports future scalability.</a:t>
            </a:r>
          </a:p>
        </p:txBody>
      </p:sp>
      <p:pic>
        <p:nvPicPr>
          <p:cNvPr id="113" name="Picture 112" descr="bottom_diagram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40480"/>
            <a:ext cx="73152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Literature Review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Compared IMU sensors, depth cameras, YOLO, OpenPose, and MediaPipe.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MediaPipe selected due to lightweight CPU optimization.</a:t>
            </a:r>
          </a:p>
          <a:p>
            <a:r>
              <a:rPr sz="1600">
                <a:latin typeface="Times New Roman"/>
              </a:rPr>
              <a:t>• Existing cloud systems create privacy and latency issues.</a:t>
            </a:r>
          </a:p>
          <a:p>
            <a:r>
              <a:rPr sz="1600">
                <a:latin typeface="Times New Roman"/>
              </a:rPr>
              <a:t>• FitTrack AI resolves both privacy and biomechanical accuracy concerns.</a:t>
            </a:r>
          </a:p>
          <a:p>
            <a:br/>
            <a:r>
              <a:rPr sz="1500">
                <a:latin typeface="Times New Roman"/>
              </a:rPr>
              <a:t>• Four-layer architecture improves maintainability.</a:t>
            </a:r>
            <a:br/>
            <a:r>
              <a:rPr sz="1500">
                <a:latin typeface="Times New Roman"/>
              </a:rPr>
              <a:t>• Memory management prevents data persistence.</a:t>
            </a:r>
          </a:p>
        </p:txBody>
      </p:sp>
      <p:pic>
        <p:nvPicPr>
          <p:cNvPr id="113" name="Picture 112" descr="bottom_diagram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40480"/>
            <a:ext cx="73152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Offline-first privacy-by-design architecture.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Transitioned from confidence-based evaluation to Euclidean geometry.</a:t>
            </a:r>
          </a:p>
          <a:p>
            <a:r>
              <a:rPr sz="1600">
                <a:latin typeface="Times New Roman"/>
              </a:rPr>
              <a:t>• Uses keypoint coordinate extraction and trigonometric calculations.</a:t>
            </a:r>
          </a:p>
          <a:p>
            <a:r>
              <a:rPr sz="1600">
                <a:latin typeface="Times New Roman"/>
              </a:rPr>
              <a:t>• Modular architecture separates frontend and backend logic.</a:t>
            </a:r>
          </a:p>
          <a:p>
            <a:br/>
            <a:r>
              <a:rPr sz="1500">
                <a:latin typeface="Times New Roman"/>
              </a:rPr>
              <a:t>• atan2 function provides stable angle computation.</a:t>
            </a:r>
            <a:br/>
            <a:r>
              <a:rPr sz="1500">
                <a:latin typeface="Times New Roman"/>
              </a:rPr>
              <a:t>• Accurate angle correction handles edge cases.</a:t>
            </a:r>
          </a:p>
        </p:txBody>
      </p:sp>
      <p:pic>
        <p:nvPicPr>
          <p:cNvPr id="111" name="Picture 110" descr="angl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979" y="3429000"/>
            <a:ext cx="5430699" cy="19309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System Architecture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Layer 1: Streamlit UI Layer.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Layer 2: MediaPipe Vision Engine.</a:t>
            </a:r>
          </a:p>
          <a:p>
            <a:r>
              <a:rPr sz="1600">
                <a:latin typeface="Times New Roman"/>
              </a:rPr>
              <a:t>• Layer 3: Geometry Evaluation Core.</a:t>
            </a:r>
          </a:p>
          <a:p>
            <a:r>
              <a:rPr sz="1600">
                <a:latin typeface="Times New Roman"/>
              </a:rPr>
              <a:t>• Layer 4: Memory Management and Security.</a:t>
            </a:r>
          </a:p>
          <a:p>
            <a:r>
              <a:rPr sz="1600">
                <a:latin typeface="Times New Roman"/>
              </a:rPr>
              <a:t>• Ensures secure and efficient posture analysis.</a:t>
            </a:r>
          </a:p>
          <a:p>
            <a:br/>
            <a:r>
              <a:rPr sz="1500">
                <a:latin typeface="Times New Roman"/>
              </a:rPr>
              <a:t>• Streamlit frontend improves usability.</a:t>
            </a:r>
            <a:br/>
            <a:r>
              <a:rPr sz="1500">
                <a:latin typeface="Times New Roman"/>
              </a:rPr>
              <a:t>• OpenCV visualization enhances posture understanding.</a:t>
            </a:r>
          </a:p>
        </p:txBody>
      </p:sp>
      <p:pic>
        <p:nvPicPr>
          <p:cNvPr id="112" name="Picture 111" descr="bottom_diagram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40480"/>
            <a:ext cx="73152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Mathematical Engine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Uses math.atan2 for stable angle calculations.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Calculates hip, knee, and ankle flexion angles.</a:t>
            </a:r>
          </a:p>
          <a:p>
            <a:r>
              <a:rPr sz="1600">
                <a:latin typeface="Times New Roman"/>
              </a:rPr>
              <a:t>• Corrects reflex angles greater than 180°.</a:t>
            </a:r>
          </a:p>
          <a:p>
            <a:r>
              <a:rPr sz="1600">
                <a:latin typeface="Times New Roman"/>
              </a:rPr>
              <a:t>• Provides deterministic posture analysis independent of lighting.</a:t>
            </a:r>
          </a:p>
          <a:p>
            <a:br/>
            <a:r>
              <a:rPr sz="1500">
                <a:latin typeface="Times New Roman"/>
              </a:rPr>
              <a:t>• Real-time alerts successfully detect dangerous posture.</a:t>
            </a:r>
            <a:br/>
            <a:r>
              <a:rPr sz="1500">
                <a:latin typeface="Times New Roman"/>
              </a:rPr>
              <a:t>• Fast inference enables smooth user experience.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Implementation Details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Developed using Python and Streamlit.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MediaPipe extracts 33-point skeletal topology.</a:t>
            </a:r>
          </a:p>
          <a:p>
            <a:r>
              <a:rPr sz="1600">
                <a:latin typeface="Times New Roman"/>
              </a:rPr>
              <a:t>• OpenCV handles image processing and rendering.</a:t>
            </a:r>
          </a:p>
          <a:p>
            <a:r>
              <a:rPr sz="1600">
                <a:latin typeface="Times New Roman"/>
              </a:rPr>
              <a:t>• NumPy manages coordinate arrays and calculations.</a:t>
            </a:r>
          </a:p>
          <a:p>
            <a:br/>
            <a:r>
              <a:rPr sz="1500">
                <a:latin typeface="Times New Roman"/>
              </a:rPr>
              <a:t>• Extensive testing improved robustness.</a:t>
            </a:r>
            <a:br/>
            <a:r>
              <a:rPr sz="1500">
                <a:latin typeface="Times New Roman"/>
              </a:rPr>
              <a:t>• Graceful error handling prevents crashes.</a:t>
            </a:r>
          </a:p>
        </p:txBody>
      </p:sp>
      <p:pic>
        <p:nvPicPr>
          <p:cNvPr id="113" name="Picture 112" descr="bottom_diagram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40480"/>
            <a:ext cx="73152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Major Findings &amp; Results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Accurate squat posture detection achieved.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Safe squat detected at Knee Angle ≈ 104.7°.</a:t>
            </a:r>
          </a:p>
          <a:p>
            <a:r>
              <a:rPr sz="1600">
                <a:latin typeface="Times New Roman"/>
              </a:rPr>
              <a:t>• Dangerous spinal collapse detected at Hip Angle &lt; 70°.</a:t>
            </a:r>
          </a:p>
          <a:p>
            <a:r>
              <a:rPr sz="1600">
                <a:latin typeface="Times New Roman"/>
              </a:rPr>
              <a:t>• Entire inference completed in under 2.5 seconds.</a:t>
            </a:r>
          </a:p>
          <a:p>
            <a:br/>
            <a:r>
              <a:rPr sz="1500">
                <a:latin typeface="Times New Roman"/>
              </a:rPr>
              <a:t>• Future upgrades include live webcam support.</a:t>
            </a:r>
            <a:br/>
            <a:r>
              <a:rPr sz="1500">
                <a:latin typeface="Times New Roman"/>
              </a:rPr>
              <a:t>• System can expand to multiple exercise categories.</a:t>
            </a:r>
          </a:p>
        </p:txBody>
      </p:sp>
      <p:pic>
        <p:nvPicPr>
          <p:cNvPr id="111" name="Picture 110" descr="fu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578" y="3625795"/>
            <a:ext cx="7106124" cy="25266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Testing &amp; Validation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Tested edge cases like vertical alignment and cropped images.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try/except blocks prevent application crashes.</a:t>
            </a:r>
          </a:p>
          <a:p>
            <a:r>
              <a:rPr sz="1600">
                <a:latin typeface="Times New Roman"/>
              </a:rPr>
              <a:t>• Non-image uploads rejected successfully.</a:t>
            </a:r>
          </a:p>
          <a:p>
            <a:r>
              <a:rPr sz="1600">
                <a:latin typeface="Times New Roman"/>
              </a:rPr>
              <a:t>• Robust error handling improved reliability.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FitTrack AI delivers privacy-preserving posture analysis.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Euclidean geometry improves biomechanical accuracy.</a:t>
            </a:r>
          </a:p>
          <a:p>
            <a:r>
              <a:rPr sz="1600">
                <a:latin typeface="Times New Roman"/>
              </a:rPr>
              <a:t>• Fully local execution removes cloud dependency.</a:t>
            </a:r>
          </a:p>
          <a:p>
            <a:r>
              <a:rPr sz="1600">
                <a:latin typeface="Times New Roman"/>
              </a:rPr>
              <a:t>• Demonstrates practical AI-based fitness safety solution.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Future Scope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Real-time webcam analysis using WebRTC.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Automatic repetition counting.</a:t>
            </a:r>
          </a:p>
          <a:p>
            <a:r>
              <a:rPr sz="1600">
                <a:latin typeface="Times New Roman"/>
              </a:rPr>
              <a:t>• Support for upper-body exercises.</a:t>
            </a:r>
          </a:p>
          <a:p>
            <a:r>
              <a:rPr sz="1600">
                <a:latin typeface="Times New Roman"/>
              </a:rPr>
              <a:t>• Expansion toward multi-exercise posture monitoring.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References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>
                <a:latin typeface="Times New Roman"/>
              </a:rPr>
              <a:t>• MediaPipe Pose – Real-time Human Pose Estimation.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600">
                <a:latin typeface="Times New Roman"/>
              </a:rPr>
              <a:t>• OpenCV Library Documentation.</a:t>
            </a:r>
          </a:p>
          <a:p>
            <a:r>
              <a:rPr sz="1600">
                <a:latin typeface="Times New Roman"/>
              </a:rPr>
              <a:t>• NumPy Scientific Computing.</a:t>
            </a:r>
          </a:p>
          <a:p>
            <a:r>
              <a:rPr sz="1600">
                <a:latin typeface="Times New Roman"/>
              </a:rPr>
              <a:t>• Python math module documentation.</a:t>
            </a:r>
          </a:p>
          <a:p>
            <a:r>
              <a:rPr sz="1600">
                <a:latin typeface="Times New Roman"/>
              </a:rPr>
              <a:t>• Streamlit Official Documentation.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34704</TotalTime>
  <Words>1039</Words>
  <Application>Microsoft Office PowerPoint</Application>
  <PresentationFormat>On-screen Show (4:3)</PresentationFormat>
  <Paragraphs>145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Harsh Raj</cp:lastModifiedBy>
  <cp:revision>2301</cp:revision>
  <dcterms:created xsi:type="dcterms:W3CDTF">2010-04-09T07:36:15Z</dcterms:created>
  <dcterms:modified xsi:type="dcterms:W3CDTF">2026-05-11T10:31:18Z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